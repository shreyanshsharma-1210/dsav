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1"/>
  </p:notesMasterIdLst>
  <p:sldIdLst>
    <p:sldId id="256" r:id="rId2"/>
    <p:sldId id="257" r:id="rId3"/>
    <p:sldId id="258" r:id="rId4"/>
    <p:sldId id="269" r:id="rId5"/>
    <p:sldId id="270" r:id="rId6"/>
    <p:sldId id="271" r:id="rId7"/>
    <p:sldId id="273" r:id="rId8"/>
    <p:sldId id="272" r:id="rId9"/>
    <p:sldId id="26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9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984B3B-176F-41F4-A2F4-0431DD5F1594}" v="19" dt="2026-06-15T16:31:00.8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8" d="100"/>
          <a:sy n="68" d="100"/>
        </p:scale>
        <p:origin x="1234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CFAE5-ADF6-4A84-8EA5-0D21F6BA36C9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35D675-1F46-4B87-A5F8-67DB0C31E2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622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CE75-2696-426B-A7C6-7629D8CF2437}" type="datetime1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972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>
            <a:normAutofit/>
          </a:bodyPr>
          <a:lstStyle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8F0E0-2234-4197-A558-6EA21AC7A0A0}" type="datetime1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 userDrawn="1"/>
        </p:nvSpPr>
        <p:spPr bwMode="auto">
          <a:xfrm rot="10800000" flipV="1">
            <a:off x="10587856" y="6247184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22029" y="6338155"/>
            <a:ext cx="7797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75ECA5-96F4-415B-9B7B-F5BEE4B08E09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4E0AF9-0CD7-865F-F584-E7F93A8852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10" y="0"/>
            <a:ext cx="1457325" cy="12430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42BC9D-E099-1948-3435-FFC2468E3BB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3395" y="-394223"/>
            <a:ext cx="1017037" cy="1808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865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33316-F1D2-4CFB-B3A8-36FF84D60DC1}" type="datetime1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41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DD2DD-462B-4CBA-AA0A-8301F8EE9842}" type="datetime1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027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F0FB0-DEC5-44F8-B224-7DEA76B58BCE}" type="datetime1">
              <a:rPr lang="en-IN" smtClean="0"/>
              <a:t>15-06-2026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132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51C4-12AA-486A-8A73-FD7CDFC9A495}" type="datetime1">
              <a:rPr lang="en-IN" smtClean="0"/>
              <a:t>15-06-2026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892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4A1EF-1C77-4320-9664-16BFC03E4F4D}" type="datetime1">
              <a:rPr lang="en-IN" smtClean="0"/>
              <a:t>15-06-2026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484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BE58-E9FD-47D2-91AC-7CE0251A25B2}" type="datetime1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767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71803-78DB-4882-8A70-E311DA0EF9FC}" type="datetime1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96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228FF-BE53-47F7-B430-409A097CA437}" type="datetime1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75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65DF8-C87B-4AA2-B81E-F9B41C3DE973}" type="datetime1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449658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31343-E99C-4C22-AAE8-C343A811CECF}" type="datetime1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2787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CDC9B-DBC7-4258-BEB9-733492353AF9}" type="datetime1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151227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C6488-E703-4AFF-AB60-B11F0E50C7BC}" type="datetime1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311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63479-18BA-4E37-9716-A08D210E9EC7}" type="datetime1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2542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7E75-1528-41FC-88CA-CFEB217670A5}" type="datetime1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554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858841-AB6D-42AC-A9E1-E0D97A1068DD}" type="datetime1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605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94E13-AF13-FE84-B59A-88C7FF0DD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3500" y="2846652"/>
            <a:ext cx="8915399" cy="2511551"/>
          </a:xfrm>
        </p:spPr>
        <p:txBody>
          <a:bodyPr>
            <a:normAutofit fontScale="90000"/>
          </a:bodyPr>
          <a:lstStyle/>
          <a:p>
            <a:pPr algn="ctr"/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Diagrams Presentation</a:t>
            </a:r>
            <a:b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i="1" dirty="0"/>
              <a:t>Gamified Learning Platform for Rural Education with AI Visual Conversion</a:t>
            </a:r>
            <a:r>
              <a:rPr lang="en-IN" dirty="0"/>
              <a:t>​</a:t>
            </a:r>
            <a:br>
              <a:rPr lang="en-IN" dirty="0"/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B09E56-A5E9-0BDC-98BD-DDD921DCD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1216" y="3810404"/>
            <a:ext cx="7929566" cy="2511551"/>
          </a:xfrm>
        </p:spPr>
        <p:txBody>
          <a:bodyPr>
            <a:normAutofit fontScale="77500" lnSpcReduction="20000"/>
          </a:bodyPr>
          <a:lstStyle/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                                                           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dirty="0"/>
              <a:t> </a:t>
            </a:r>
            <a:r>
              <a:rPr lang="en-IN" b="1" dirty="0"/>
              <a:t>Internal Guide:</a:t>
            </a:r>
            <a:r>
              <a:rPr lang="en-IN" dirty="0"/>
              <a:t>                                                                           Prashant Jagtap(0827IT231101) </a:t>
            </a:r>
          </a:p>
          <a:p>
            <a:r>
              <a:rPr lang="en-IN" dirty="0"/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</a:t>
            </a:r>
            <a:r>
              <a:rPr lang="en-IN" dirty="0"/>
              <a:t>Deepak Singh Chouhan                                                    Sarthik Yadav (0827IT231120) </a:t>
            </a:r>
          </a:p>
          <a:p>
            <a:r>
              <a:rPr lang="en-IN" dirty="0"/>
              <a:t>                                                                                                        Shreyansh Sharma (0827IT231130) </a:t>
            </a:r>
          </a:p>
          <a:p>
            <a:r>
              <a:rPr lang="en-IN" b="1" dirty="0"/>
              <a:t>External Guide:</a:t>
            </a:r>
            <a:r>
              <a:rPr lang="en-IN" dirty="0"/>
              <a:t>                                                                           Somil Jain (0827IT231135) </a:t>
            </a:r>
            <a:br>
              <a:rPr lang="en-IN" dirty="0"/>
            </a:br>
            <a:r>
              <a:rPr lang="en-IN" dirty="0"/>
              <a:t>Mr. Naman Jagtap </a:t>
            </a:r>
            <a:br>
              <a:rPr lang="en-IN" dirty="0"/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			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BC312B-2F58-B7DE-00D2-0142F8801F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7059" y="-354166"/>
            <a:ext cx="1175716" cy="20901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5F9EF6-DBB5-9291-78C0-1BD5FCF2CF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975" y="0"/>
            <a:ext cx="1620078" cy="138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270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98BD3-82F3-F887-7675-7696E56FA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475750"/>
            <a:ext cx="8911687" cy="1280890"/>
          </a:xfrm>
        </p:spPr>
        <p:txBody>
          <a:bodyPr/>
          <a:lstStyle/>
          <a:p>
            <a:r>
              <a:rPr lang="en-IN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DD591-8615-A08A-67F8-943007048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152939"/>
            <a:ext cx="8915400" cy="5185216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Use Case Diagram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Class Diagram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Sequence Diagram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Data Flow Diagram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State Diagram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21891-9C7A-E4D4-07BD-AF0CB8124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8645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4922" y="230504"/>
            <a:ext cx="8911687" cy="1280890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1. Use Case Diagram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>
                <a:solidFill>
                  <a:schemeClr val="tx1"/>
                </a:solidFill>
              </a:rPr>
              <a:pPr/>
              <a:t>3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0D9E68-E6C3-11F5-1C1C-2386733C7EFF}"/>
              </a:ext>
            </a:extLst>
          </p:cNvPr>
          <p:cNvSpPr txBox="1"/>
          <p:nvPr/>
        </p:nvSpPr>
        <p:spPr>
          <a:xfrm>
            <a:off x="2077279" y="1079671"/>
            <a:ext cx="4204251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System &amp; Actor</a:t>
            </a:r>
          </a:p>
          <a:p>
            <a:r>
              <a:rPr lang="en-IN" dirty="0"/>
              <a:t>System: DSA Visualizer</a:t>
            </a:r>
          </a:p>
          <a:p>
            <a:r>
              <a:rPr lang="en-IN" dirty="0"/>
              <a:t>Actor: Learner</a:t>
            </a:r>
          </a:p>
          <a:p>
            <a:r>
              <a:rPr lang="en-IN" b="1" dirty="0"/>
              <a:t>1. Visualizer (Practice)</a:t>
            </a:r>
          </a:p>
          <a:p>
            <a:r>
              <a:rPr lang="en-IN" dirty="0"/>
              <a:t>Step-by-step visualization</a:t>
            </a:r>
          </a:p>
          <a:p>
            <a:r>
              <a:rPr lang="en-IN" dirty="0"/>
              <a:t>Category browsing</a:t>
            </a:r>
          </a:p>
          <a:p>
            <a:r>
              <a:rPr lang="en-IN" dirty="0"/>
              <a:t>Difficulty filtering</a:t>
            </a:r>
          </a:p>
          <a:p>
            <a:r>
              <a:rPr lang="en-IN" dirty="0"/>
              <a:t>Complexity viewing</a:t>
            </a:r>
          </a:p>
          <a:p>
            <a:r>
              <a:rPr lang="en-IN" dirty="0"/>
              <a:t>AI explanations (&lt;&lt;include&gt;&gt;)</a:t>
            </a:r>
          </a:p>
          <a:p>
            <a:r>
              <a:rPr lang="en-IN" dirty="0"/>
              <a:t>Playback controls (&lt;&lt;include&gt;&gt;)</a:t>
            </a:r>
          </a:p>
          <a:p>
            <a:r>
              <a:rPr lang="en-IN" dirty="0"/>
              <a:t>Variable tracking (&lt;&lt;include&gt;&gt;)</a:t>
            </a:r>
          </a:p>
          <a:p>
            <a:r>
              <a:rPr lang="en-IN" b="1" dirty="0"/>
              <a:t>2. Arena (Gamification)</a:t>
            </a:r>
          </a:p>
          <a:p>
            <a:r>
              <a:rPr lang="en-IN" dirty="0"/>
              <a:t>DSA quizzes</a:t>
            </a:r>
          </a:p>
          <a:p>
            <a:r>
              <a:rPr lang="en-IN" dirty="0"/>
              <a:t>Output guessing</a:t>
            </a:r>
          </a:p>
          <a:p>
            <a:r>
              <a:rPr lang="en-IN" dirty="0"/>
              <a:t>Step prediction</a:t>
            </a:r>
          </a:p>
          <a:p>
            <a:r>
              <a:rPr lang="en-IN" dirty="0"/>
              <a:t>Complexity matching</a:t>
            </a:r>
          </a:p>
          <a:p>
            <a:r>
              <a:rPr lang="en-IN" dirty="0"/>
              <a:t>Gamified rewards</a:t>
            </a:r>
          </a:p>
          <a:p>
            <a:r>
              <a:rPr lang="en-IN" b="1" dirty="0"/>
              <a:t>3. Learn (Theory)</a:t>
            </a:r>
          </a:p>
          <a:p>
            <a:r>
              <a:rPr lang="en-IN" dirty="0"/>
              <a:t>Theory reading</a:t>
            </a:r>
          </a:p>
          <a:p>
            <a:r>
              <a:rPr lang="en-IN" dirty="0"/>
              <a:t>Code examples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7D0124-6EF5-0EC1-13E2-57F627CDD4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129" y="458465"/>
            <a:ext cx="3366799" cy="577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755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B448D-348C-26A9-E2D6-DE77430EC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64F35-9344-03E9-53C1-65605C49C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4922" y="230504"/>
            <a:ext cx="8911687" cy="1280890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2. Class Diagram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47431-7D7B-72FE-CD2C-87F789B98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>
                <a:solidFill>
                  <a:schemeClr val="tx1"/>
                </a:solidFill>
              </a:rPr>
              <a:pPr/>
              <a:t>4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DB5B3B-0185-D130-0EDA-4DB233C17A6B}"/>
              </a:ext>
            </a:extLst>
          </p:cNvPr>
          <p:cNvSpPr txBox="1"/>
          <p:nvPr/>
        </p:nvSpPr>
        <p:spPr>
          <a:xfrm>
            <a:off x="1438275" y="1150374"/>
            <a:ext cx="409575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Core Metadata Flow</a:t>
            </a:r>
          </a:p>
          <a:p>
            <a:r>
              <a:rPr lang="en-IN" dirty="0" err="1"/>
              <a:t>DSAlgoMeta</a:t>
            </a:r>
            <a:r>
              <a:rPr lang="en-IN" dirty="0"/>
              <a:t> -&gt; </a:t>
            </a:r>
            <a:r>
              <a:rPr lang="en-IN" dirty="0" err="1"/>
              <a:t>AlgoMeta</a:t>
            </a:r>
            <a:endParaRPr lang="en-IN" dirty="0"/>
          </a:p>
          <a:p>
            <a:endParaRPr lang="en-IN" dirty="0"/>
          </a:p>
          <a:p>
            <a:r>
              <a:rPr lang="en-IN" b="1" dirty="0"/>
              <a:t>State Evaluation Flow</a:t>
            </a:r>
          </a:p>
          <a:p>
            <a:r>
              <a:rPr lang="en-IN" dirty="0" err="1"/>
              <a:t>DSFrame</a:t>
            </a:r>
            <a:r>
              <a:rPr lang="en-IN" dirty="0"/>
              <a:t> -&gt; </a:t>
            </a:r>
            <a:r>
              <a:rPr lang="en-IN" dirty="0" err="1"/>
              <a:t>AlgoStep</a:t>
            </a:r>
            <a:endParaRPr lang="en-IN" dirty="0"/>
          </a:p>
          <a:p>
            <a:endParaRPr lang="en-IN" dirty="0"/>
          </a:p>
          <a:p>
            <a:r>
              <a:rPr lang="en-IN" b="1" dirty="0"/>
              <a:t>Visual Geometry Flow</a:t>
            </a:r>
          </a:p>
          <a:p>
            <a:r>
              <a:rPr lang="en-IN" dirty="0"/>
              <a:t>Shape -&gt; </a:t>
            </a:r>
            <a:r>
              <a:rPr lang="en-IN" dirty="0" err="1"/>
              <a:t>ArrayShape</a:t>
            </a:r>
            <a:r>
              <a:rPr lang="en-IN" dirty="0"/>
              <a:t> -&gt; </a:t>
            </a:r>
            <a:r>
              <a:rPr lang="en-IN" dirty="0" err="1"/>
              <a:t>ListShape</a:t>
            </a:r>
            <a:r>
              <a:rPr lang="en-IN" dirty="0"/>
              <a:t> -&gt; </a:t>
            </a:r>
            <a:r>
              <a:rPr lang="en-IN" dirty="0" err="1"/>
              <a:t>StackShape</a:t>
            </a:r>
            <a:r>
              <a:rPr lang="en-IN" dirty="0"/>
              <a:t> -&gt; </a:t>
            </a:r>
            <a:r>
              <a:rPr lang="en-IN" dirty="0" err="1"/>
              <a:t>QueueShape</a:t>
            </a:r>
            <a:r>
              <a:rPr lang="en-IN" dirty="0"/>
              <a:t> -&gt; </a:t>
            </a:r>
            <a:r>
              <a:rPr lang="en-IN" dirty="0" err="1"/>
              <a:t>TreeShape</a:t>
            </a:r>
            <a:r>
              <a:rPr lang="en-IN" dirty="0"/>
              <a:t> -&gt; </a:t>
            </a:r>
            <a:r>
              <a:rPr lang="en-IN" dirty="0" err="1"/>
              <a:t>GraphShape</a:t>
            </a:r>
            <a:endParaRPr lang="en-IN" dirty="0"/>
          </a:p>
          <a:p>
            <a:endParaRPr lang="en-IN" dirty="0"/>
          </a:p>
          <a:p>
            <a:r>
              <a:rPr lang="en-IN" b="1" dirty="0"/>
              <a:t>Layout Detail Flow</a:t>
            </a:r>
          </a:p>
          <a:p>
            <a:r>
              <a:rPr lang="en-IN" dirty="0" err="1"/>
              <a:t>ListNodeView</a:t>
            </a:r>
            <a:r>
              <a:rPr lang="en-IN" dirty="0"/>
              <a:t> -&gt; </a:t>
            </a:r>
            <a:r>
              <a:rPr lang="en-IN" dirty="0" err="1"/>
              <a:t>TreeNodeView</a:t>
            </a:r>
            <a:r>
              <a:rPr lang="en-IN" dirty="0"/>
              <a:t> -&gt; </a:t>
            </a:r>
            <a:r>
              <a:rPr lang="en-IN" dirty="0" err="1"/>
              <a:t>GraphNodeView</a:t>
            </a:r>
            <a:r>
              <a:rPr lang="en-IN" dirty="0"/>
              <a:t> -&gt; </a:t>
            </a:r>
            <a:r>
              <a:rPr lang="en-IN" dirty="0" err="1"/>
              <a:t>GraphEdgeView</a:t>
            </a:r>
            <a:endParaRPr lang="en-IN" dirty="0"/>
          </a:p>
          <a:p>
            <a:endParaRPr lang="en-IN" dirty="0"/>
          </a:p>
          <a:p>
            <a:r>
              <a:rPr lang="en-IN" b="1" dirty="0"/>
              <a:t>Gamification Flow</a:t>
            </a:r>
          </a:p>
          <a:p>
            <a:r>
              <a:rPr lang="en-IN" dirty="0"/>
              <a:t>Batch -&gt; Quiz -&gt; </a:t>
            </a:r>
            <a:r>
              <a:rPr lang="en-IN" dirty="0" err="1"/>
              <a:t>GuessOutput</a:t>
            </a:r>
            <a:r>
              <a:rPr lang="en-IN" dirty="0"/>
              <a:t> -&gt; </a:t>
            </a:r>
            <a:r>
              <a:rPr lang="en-IN" dirty="0" err="1"/>
              <a:t>PredictStep</a:t>
            </a:r>
            <a:r>
              <a:rPr lang="en-IN" dirty="0"/>
              <a:t> -&gt; </a:t>
            </a:r>
            <a:r>
              <a:rPr lang="en-IN" dirty="0" err="1"/>
              <a:t>ComplexityMatch</a:t>
            </a:r>
            <a:endParaRPr lang="en-IN" dirty="0"/>
          </a:p>
          <a:p>
            <a:pPr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204B64-DE26-9A68-C581-B4149CAB4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0091" y="1150374"/>
            <a:ext cx="6903974" cy="3313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429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A228D-1D6C-AF2E-BF5A-CBE533E13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4C73B-8696-4A25-95EE-FCBAE1D75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4922" y="230504"/>
            <a:ext cx="8911687" cy="1280890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3. Sequence Diagram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E6823A-3BBF-D88A-A755-0E605C953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>
                <a:solidFill>
                  <a:schemeClr val="tx1"/>
                </a:solidFill>
              </a:rPr>
              <a:pPr/>
              <a:t>5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7300F7-A6A9-3A01-375A-3E54385ADA07}"/>
              </a:ext>
            </a:extLst>
          </p:cNvPr>
          <p:cNvSpPr txBox="1"/>
          <p:nvPr/>
        </p:nvSpPr>
        <p:spPr>
          <a:xfrm>
            <a:off x="2028825" y="1635219"/>
            <a:ext cx="463867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Navigation Flow</a:t>
            </a:r>
          </a:p>
          <a:p>
            <a:r>
              <a:rPr lang="en-IN" dirty="0"/>
              <a:t>User -&gt; Router -&gt; </a:t>
            </a:r>
            <a:r>
              <a:rPr lang="en-IN" dirty="0" err="1"/>
              <a:t>PracticePage</a:t>
            </a:r>
            <a:endParaRPr lang="en-IN" dirty="0"/>
          </a:p>
          <a:p>
            <a:r>
              <a:rPr lang="en-IN" b="1" dirty="0"/>
              <a:t>Initialization Flow</a:t>
            </a:r>
          </a:p>
          <a:p>
            <a:r>
              <a:rPr lang="en-IN" dirty="0" err="1"/>
              <a:t>PracticePage</a:t>
            </a:r>
            <a:r>
              <a:rPr lang="en-IN" dirty="0"/>
              <a:t> -&gt; Registry -&gt; </a:t>
            </a:r>
            <a:r>
              <a:rPr lang="en-IN" dirty="0" err="1"/>
              <a:t>DSAlgoMeta</a:t>
            </a:r>
            <a:r>
              <a:rPr lang="en-IN" dirty="0"/>
              <a:t> -&gt; </a:t>
            </a:r>
            <a:r>
              <a:rPr lang="en-IN" dirty="0" err="1"/>
              <a:t>MultiVisualizer</a:t>
            </a:r>
            <a:r>
              <a:rPr lang="en-IN" dirty="0"/>
              <a:t> -&gt; </a:t>
            </a:r>
            <a:r>
              <a:rPr lang="en-IN" dirty="0" err="1"/>
              <a:t>ShapeRenderer</a:t>
            </a:r>
            <a:endParaRPr lang="en-IN" dirty="0"/>
          </a:p>
          <a:p>
            <a:r>
              <a:rPr lang="en-IN" b="1" dirty="0"/>
              <a:t>Execution Flow</a:t>
            </a:r>
          </a:p>
          <a:p>
            <a:r>
              <a:rPr lang="en-IN" dirty="0"/>
              <a:t>User -&gt; </a:t>
            </a:r>
            <a:r>
              <a:rPr lang="en-IN" dirty="0" err="1"/>
              <a:t>MultiVisualizer</a:t>
            </a:r>
            <a:r>
              <a:rPr lang="en-IN" dirty="0"/>
              <a:t> -&gt; </a:t>
            </a:r>
            <a:r>
              <a:rPr lang="en-IN" dirty="0" err="1"/>
              <a:t>ShapeRenderer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827B17-E999-DDD4-50DB-2DE7AA3599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5581" y="1288025"/>
            <a:ext cx="5686419" cy="4911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630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673CF-C53F-3445-80A4-6EBAFFEB4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F8AAD-10C0-C66C-9945-DF77D36C3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4922" y="230504"/>
            <a:ext cx="8911687" cy="1280890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4. Data Flow Diagram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DF8B3-3568-1DD9-77C4-A60895EDB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>
                <a:solidFill>
                  <a:schemeClr val="tx1"/>
                </a:solidFill>
              </a:rPr>
              <a:pPr/>
              <a:t>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D58D0E-A11B-D854-B4A5-F7AF8F94CB29}"/>
              </a:ext>
            </a:extLst>
          </p:cNvPr>
          <p:cNvSpPr txBox="1"/>
          <p:nvPr/>
        </p:nvSpPr>
        <p:spPr>
          <a:xfrm>
            <a:off x="6648251" y="782204"/>
            <a:ext cx="5219699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User Interaction Flow</a:t>
            </a:r>
          </a:p>
          <a:p>
            <a:r>
              <a:rPr lang="en-IN" dirty="0"/>
              <a:t>Practice/Arena Start to User Interface</a:t>
            </a:r>
          </a:p>
          <a:p>
            <a:r>
              <a:rPr lang="en-IN" dirty="0"/>
              <a:t>User Interface to App Router &amp; State Manager</a:t>
            </a:r>
          </a:p>
          <a:p>
            <a:r>
              <a:rPr lang="en-IN" dirty="0"/>
              <a:t>App Router &amp; State Manager to User Receives Feedback</a:t>
            </a:r>
          </a:p>
          <a:p>
            <a:r>
              <a:rPr lang="en-IN" b="1" dirty="0"/>
              <a:t>Algorithm Visualization Flow</a:t>
            </a:r>
          </a:p>
          <a:p>
            <a:r>
              <a:rPr lang="en-IN" dirty="0"/>
              <a:t>App Router &amp; State Manager to Algorithm Execution Engine</a:t>
            </a:r>
          </a:p>
          <a:p>
            <a:r>
              <a:rPr lang="en-IN" dirty="0"/>
              <a:t>Algorithm Execution Engine to App Router &amp; State Manager</a:t>
            </a:r>
          </a:p>
          <a:p>
            <a:r>
              <a:rPr lang="en-IN" b="1" dirty="0"/>
              <a:t>Gamification Logic Flow</a:t>
            </a:r>
          </a:p>
          <a:p>
            <a:r>
              <a:rPr lang="en-IN" dirty="0"/>
              <a:t>App Router &amp; State Manager to Arena/Quiz Manager</a:t>
            </a:r>
          </a:p>
          <a:p>
            <a:r>
              <a:rPr lang="en-IN" dirty="0"/>
              <a:t>Arena/Quiz Manager to </a:t>
            </a:r>
            <a:r>
              <a:rPr lang="en-IN" dirty="0" err="1"/>
              <a:t>Groq</a:t>
            </a:r>
            <a:r>
              <a:rPr lang="en-IN" dirty="0"/>
              <a:t> AI Client</a:t>
            </a:r>
          </a:p>
          <a:p>
            <a:r>
              <a:rPr lang="en-IN" dirty="0" err="1"/>
              <a:t>Groq</a:t>
            </a:r>
            <a:r>
              <a:rPr lang="en-IN" dirty="0"/>
              <a:t> AI Client to Arena/Quiz Manager</a:t>
            </a:r>
          </a:p>
          <a:p>
            <a:r>
              <a:rPr lang="en-IN" b="1" dirty="0"/>
              <a:t>Data Storage Flow</a:t>
            </a:r>
          </a:p>
          <a:p>
            <a:r>
              <a:rPr lang="en-IN" dirty="0"/>
              <a:t>Algorithm Execution Engine to Registry &amp; Content DB</a:t>
            </a:r>
          </a:p>
          <a:p>
            <a:r>
              <a:rPr lang="en-IN" dirty="0"/>
              <a:t>Registry &amp; Content DB to Arena/Quiz Manager</a:t>
            </a:r>
          </a:p>
          <a:p>
            <a:r>
              <a:rPr lang="en-IN" dirty="0"/>
              <a:t>Arena/Quiz Manager to Browser </a:t>
            </a:r>
            <a:r>
              <a:rPr lang="en-IN" dirty="0" err="1"/>
              <a:t>LocalStorage</a:t>
            </a:r>
            <a:endParaRPr lang="en-IN" dirty="0"/>
          </a:p>
          <a:p>
            <a:r>
              <a:rPr lang="en-IN" dirty="0"/>
              <a:t>Browser </a:t>
            </a:r>
            <a:r>
              <a:rPr lang="en-IN" dirty="0" err="1"/>
              <a:t>LocalStorage</a:t>
            </a:r>
            <a:r>
              <a:rPr lang="en-IN" dirty="0"/>
              <a:t> to Data Persisted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8C4F35-D570-75EA-6BE5-ECBEF3B1F9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391" y="1185333"/>
            <a:ext cx="5535098" cy="5271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080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52828-8E1F-4B81-A8C5-B833FEDB5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9B5A9-CB11-395F-02F3-F466587FC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4922" y="230504"/>
            <a:ext cx="8911687" cy="1280890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5. State Diagram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86EA1B-ED20-E04D-F9A3-9752E3C58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>
                <a:solidFill>
                  <a:schemeClr val="tx1"/>
                </a:solidFill>
              </a:rPr>
              <a:pPr/>
              <a:t>7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355F68-6DE2-0F64-FBC2-590439DF92C8}"/>
              </a:ext>
            </a:extLst>
          </p:cNvPr>
          <p:cNvSpPr txBox="1"/>
          <p:nvPr/>
        </p:nvSpPr>
        <p:spPr>
          <a:xfrm>
            <a:off x="6275412" y="870949"/>
            <a:ext cx="564565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Initialization Session</a:t>
            </a:r>
          </a:p>
          <a:p>
            <a:r>
              <a:rPr lang="en-IN" dirty="0"/>
              <a:t>Open App initiates Load Home Page</a:t>
            </a:r>
          </a:p>
          <a:p>
            <a:r>
              <a:rPr lang="en-IN" b="1" dirty="0"/>
              <a:t>Visualizer Practice Path</a:t>
            </a:r>
          </a:p>
          <a:p>
            <a:r>
              <a:rPr lang="en-IN" dirty="0"/>
              <a:t>Select Practice triggers Load Visualizer UI</a:t>
            </a:r>
          </a:p>
          <a:p>
            <a:r>
              <a:rPr lang="en-IN" dirty="0"/>
              <a:t>Pick Algorithm triggers Generate Frames</a:t>
            </a:r>
          </a:p>
          <a:p>
            <a:r>
              <a:rPr lang="en-IN" dirty="0"/>
              <a:t>Interact with Player triggers Render Updated Frame</a:t>
            </a:r>
          </a:p>
          <a:p>
            <a:r>
              <a:rPr lang="en-IN" b="1" dirty="0"/>
              <a:t>Arena Gamification Path</a:t>
            </a:r>
          </a:p>
          <a:p>
            <a:r>
              <a:rPr lang="en-IN" dirty="0"/>
              <a:t>Select Arena triggers Load Arena </a:t>
            </a:r>
            <a:r>
              <a:rPr lang="en-IN" dirty="0" err="1"/>
              <a:t>Gamement</a:t>
            </a:r>
            <a:endParaRPr lang="en-IN" dirty="0"/>
          </a:p>
          <a:p>
            <a:r>
              <a:rPr lang="en-IN" dirty="0"/>
              <a:t>Pick Batch &amp; Play triggers Submit Answers</a:t>
            </a:r>
          </a:p>
          <a:p>
            <a:r>
              <a:rPr lang="en-IN" dirty="0"/>
              <a:t>Submit Answers triggers Calculate XP &amp; Show Summary</a:t>
            </a:r>
          </a:p>
          <a:p>
            <a:r>
              <a:rPr lang="en-IN" b="1" dirty="0"/>
              <a:t>Theory Learning Path</a:t>
            </a:r>
          </a:p>
          <a:p>
            <a:r>
              <a:rPr lang="en-IN" dirty="0"/>
              <a:t>Select Learn leads to Pick Algorithm</a:t>
            </a:r>
          </a:p>
          <a:p>
            <a:r>
              <a:rPr lang="en-IN" dirty="0"/>
              <a:t>Pick Algorithm triggers Load Theory Page</a:t>
            </a:r>
          </a:p>
          <a:p>
            <a:r>
              <a:rPr lang="en-IN" dirty="0"/>
              <a:t>Load Theory Page leads to Read DSA Concepts</a:t>
            </a:r>
          </a:p>
          <a:p>
            <a:r>
              <a:rPr lang="en-IN" b="1" dirty="0"/>
              <a:t>Session Termination</a:t>
            </a:r>
          </a:p>
          <a:p>
            <a:r>
              <a:rPr lang="en-IN" dirty="0"/>
              <a:t>Read DSA Concepts leads to End Session</a:t>
            </a:r>
          </a:p>
          <a:p>
            <a:r>
              <a:rPr lang="en-IN" dirty="0"/>
              <a:t>Render Updated Frame leads to End Session</a:t>
            </a:r>
          </a:p>
          <a:p>
            <a:r>
              <a:rPr lang="en-IN" dirty="0"/>
              <a:t>Calculate XP &amp; Show Summary leads to End Session</a:t>
            </a:r>
          </a:p>
          <a:p>
            <a:pPr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2A5977-456D-53C2-6C1E-2ABD101602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865" y="1185332"/>
            <a:ext cx="5911491" cy="5317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514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93B79-67F9-D4C3-4D70-BFE260D9F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1FE20-DA0C-392F-7997-7B18A241C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GitHub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E797B-2D45-1930-3009-81FB4734E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39957"/>
            <a:ext cx="8915400" cy="4363278"/>
          </a:xfrm>
        </p:spPr>
        <p:txBody>
          <a:bodyPr/>
          <a:lstStyle/>
          <a:p>
            <a:r>
              <a:rPr lang="en-IN" dirty="0"/>
              <a:t>https://github.com/shreyanshsharma-1210/IREN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383939-F35D-4AE0-8417-983587556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4849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8E571-788C-E54B-B080-EEB4F50A8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7870" y="2806401"/>
            <a:ext cx="8915400" cy="2866159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                           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C9646-E93C-1967-B61B-316EFA057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9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075BCF-150E-73E5-8816-DE78BFA76264}"/>
              </a:ext>
            </a:extLst>
          </p:cNvPr>
          <p:cNvSpPr/>
          <p:nvPr/>
        </p:nvSpPr>
        <p:spPr>
          <a:xfrm>
            <a:off x="1153750" y="2344736"/>
            <a:ext cx="98845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5400" b="1" cap="none" spc="0" dirty="0">
                <a:ln w="12700">
                  <a:solidFill>
                    <a:schemeClr val="accent5"/>
                  </a:solidFill>
                  <a:prstDash val="solid"/>
                </a:ln>
                <a:solidFill>
                  <a:schemeClr val="bg2">
                    <a:lumMod val="50000"/>
                  </a:schemeClr>
                </a:solidFill>
                <a:effectLst/>
              </a:rPr>
              <a:t>~Thank You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B19417-A7FC-FBE3-2B6D-223E48F7981D}"/>
              </a:ext>
            </a:extLst>
          </p:cNvPr>
          <p:cNvSpPr/>
          <p:nvPr/>
        </p:nvSpPr>
        <p:spPr>
          <a:xfrm>
            <a:off x="4723384" y="3131485"/>
            <a:ext cx="2745232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Any </a:t>
            </a:r>
            <a:r>
              <a:rPr lang="en-IN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Q</a:t>
            </a:r>
            <a:r>
              <a:rPr lang="en-IN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ueries</a:t>
            </a:r>
            <a:endParaRPr lang="en-US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7134107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1346</TotalTime>
  <Words>511</Words>
  <Application>Microsoft Office PowerPoint</Application>
  <PresentationFormat>Widescreen</PresentationFormat>
  <Paragraphs>106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Wisp</vt:lpstr>
      <vt:lpstr>          Diagrams Presentation on  Gamified Learning Platform for Rural Education with AI Visual Conversion​  </vt:lpstr>
      <vt:lpstr>Contents</vt:lpstr>
      <vt:lpstr>1. Use Case Diagram </vt:lpstr>
      <vt:lpstr>2. Class Diagram </vt:lpstr>
      <vt:lpstr>3. Sequence Diagram </vt:lpstr>
      <vt:lpstr>4. Data Flow Diagram </vt:lpstr>
      <vt:lpstr>5. State Diagram </vt:lpstr>
      <vt:lpstr>GitHub Link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Deepak Singh Chouhan</dc:creator>
  <cp:lastModifiedBy>Sarthik yadav</cp:lastModifiedBy>
  <cp:revision>22</cp:revision>
  <dcterms:created xsi:type="dcterms:W3CDTF">2024-09-26T07:25:32Z</dcterms:created>
  <dcterms:modified xsi:type="dcterms:W3CDTF">2026-06-16T06:02:54Z</dcterms:modified>
</cp:coreProperties>
</file>