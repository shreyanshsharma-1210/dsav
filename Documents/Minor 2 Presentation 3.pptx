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8"/>
  </p:notesMasterIdLst>
  <p:sldIdLst>
    <p:sldId id="256" r:id="rId2"/>
    <p:sldId id="257" r:id="rId3"/>
    <p:sldId id="258" r:id="rId4"/>
    <p:sldId id="269" r:id="rId5"/>
    <p:sldId id="260" r:id="rId6"/>
    <p:sldId id="261" r:id="rId7"/>
    <p:sldId id="262" r:id="rId8"/>
    <p:sldId id="263" r:id="rId9"/>
    <p:sldId id="264" r:id="rId10"/>
    <p:sldId id="270" r:id="rId11"/>
    <p:sldId id="271" r:id="rId12"/>
    <p:sldId id="272" r:id="rId13"/>
    <p:sldId id="273" r:id="rId14"/>
    <p:sldId id="268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9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CFAE5-ADF6-4A84-8EA5-0D21F6BA36C9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35D675-1F46-4B87-A5F8-67DB0C31E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622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CE75-2696-426B-A7C6-7629D8CF2437}" type="datetime1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972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>
            <a:normAutofit/>
          </a:bodyPr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8F0E0-2234-4197-A558-6EA21AC7A0A0}" type="datetime1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 userDrawn="1"/>
        </p:nvSpPr>
        <p:spPr bwMode="auto">
          <a:xfrm rot="10800000" flipV="1">
            <a:off x="10587856" y="6247184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22029" y="6338155"/>
            <a:ext cx="7797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75ECA5-96F4-415B-9B7B-F5BEE4B08E09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4E0AF9-0CD7-865F-F584-E7F93A8852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10" y="0"/>
            <a:ext cx="1457325" cy="12430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42BC9D-E099-1948-3435-FFC2468E3B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3395" y="-394223"/>
            <a:ext cx="1017037" cy="180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865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3316-F1D2-4CFB-B3A8-36FF84D60DC1}" type="datetime1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41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DD2DD-462B-4CBA-AA0A-8301F8EE9842}" type="datetime1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027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F0FB0-DEC5-44F8-B224-7DEA76B58BCE}" type="datetime1">
              <a:rPr lang="en-IN" smtClean="0"/>
              <a:t>15-06-2026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132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51C4-12AA-486A-8A73-FD7CDFC9A495}" type="datetime1">
              <a:rPr lang="en-IN" smtClean="0"/>
              <a:t>15-06-2026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892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A1EF-1C77-4320-9664-16BFC03E4F4D}" type="datetime1">
              <a:rPr lang="en-IN" smtClean="0"/>
              <a:t>15-06-2026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484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BE58-E9FD-47D2-91AC-7CE0251A25B2}" type="datetime1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767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71803-78DB-4882-8A70-E311DA0EF9FC}" type="datetime1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96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228FF-BE53-47F7-B430-409A097CA437}" type="datetime1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75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65DF8-C87B-4AA2-B81E-F9B41C3DE973}" type="datetime1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4965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1343-E99C-4C22-AAE8-C343A811CECF}" type="datetime1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2787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CDC9B-DBC7-4258-BEB9-733492353AF9}" type="datetime1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15122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C6488-E703-4AFF-AB60-B11F0E50C7BC}" type="datetime1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11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63479-18BA-4E37-9716-A08D210E9EC7}" type="datetime1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2542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7E75-1528-41FC-88CA-CFEB217670A5}" type="datetime1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554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58841-AB6D-42AC-A9E1-E0D97A1068DD}" type="datetime1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605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94E13-AF13-FE84-B59A-88C7FF0DD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9214" y="1381831"/>
            <a:ext cx="8791597" cy="3441634"/>
          </a:xfrm>
        </p:spPr>
        <p:txBody>
          <a:bodyPr>
            <a:normAutofit fontScale="90000"/>
          </a:bodyPr>
          <a:lstStyle/>
          <a:p>
            <a:pPr algn="ctr"/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1"/>
              <a:t>Gamified Learning Platform for Rural Education with AI Visual Conversion</a:t>
            </a:r>
            <a:br>
              <a:rPr lang="en-IN"/>
            </a:b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B09E56-A5E9-0BDC-98BD-DDD921DCD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3220" y="3667791"/>
            <a:ext cx="7929566" cy="2511551"/>
          </a:xfrm>
        </p:spPr>
        <p:txBody>
          <a:bodyPr>
            <a:normAutofit fontScale="77500" lnSpcReduction="20000"/>
          </a:bodyPr>
          <a:lstStyle/>
          <a:p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                                                             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/>
              <a:t> </a:t>
            </a:r>
            <a:r>
              <a:rPr lang="en-IN" b="1"/>
              <a:t>Internal Guide:</a:t>
            </a:r>
            <a:r>
              <a:rPr lang="en-IN"/>
              <a:t>                                                                           Prashant Jagtap(0827IT231101) </a:t>
            </a:r>
          </a:p>
          <a:p>
            <a:r>
              <a:rPr lang="en-IN"/>
              <a:t> 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Prof. </a:t>
            </a:r>
            <a:r>
              <a:rPr lang="en-IN"/>
              <a:t>Deepak Singh Chouhan                                                    Sarthik Yadav (0827IT231120) </a:t>
            </a:r>
          </a:p>
          <a:p>
            <a:r>
              <a:rPr lang="en-IN"/>
              <a:t>                                                                                                        Shreyansh Sharma (0827IT231130) </a:t>
            </a:r>
          </a:p>
          <a:p>
            <a:r>
              <a:rPr lang="en-IN" b="1"/>
              <a:t>External Guide:</a:t>
            </a:r>
            <a:r>
              <a:rPr lang="en-IN"/>
              <a:t>                                                                           Somil Jain (0827IT231135) </a:t>
            </a:r>
            <a:br>
              <a:rPr lang="en-IN"/>
            </a:br>
            <a:r>
              <a:rPr lang="en-IN"/>
              <a:t>Mr. Naman Jagtap </a:t>
            </a:r>
            <a:br>
              <a:rPr lang="en-IN"/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											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														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BC312B-2F58-B7DE-00D2-0142F8801F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7059" y="-354166"/>
            <a:ext cx="1175716" cy="20901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5F9EF6-DBB5-9291-78C0-1BD5FCF2CF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75" y="0"/>
            <a:ext cx="1620078" cy="138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27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98BD3-82F3-F887-7675-7696E56FA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685475"/>
            <a:ext cx="8911687" cy="1280890"/>
          </a:xfrm>
        </p:spPr>
        <p:txBody>
          <a:bodyPr/>
          <a:lstStyle/>
          <a:p>
            <a:r>
              <a:rPr lang="en-IN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DD591-8615-A08A-67F8-943007048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5499" y="1518064"/>
            <a:ext cx="8915400" cy="518521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1800"/>
              <a:t>Abstract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800"/>
              <a:t>Introduction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800"/>
              <a:t>Problem Statement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800"/>
              <a:t>Proposed Solution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800"/>
              <a:t>Objectives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800"/>
              <a:t>System Architecture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800"/>
              <a:t>Technology Stack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800"/>
              <a:t>Domain Applications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800"/>
              <a:t>Testing &amp; Performance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800"/>
              <a:t>Results &amp; Advantages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800"/>
              <a:t>Conclusion &amp; Future 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21891-9C7A-E4D4-07BD-AF0CB8124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645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133" y="985514"/>
            <a:ext cx="8911687" cy="1280890"/>
          </a:xfrm>
        </p:spPr>
        <p:txBody>
          <a:bodyPr/>
          <a:lstStyle/>
          <a:p>
            <a:r>
              <a:rPr lang="en-IN">
                <a:solidFill>
                  <a:schemeClr val="tx1"/>
                </a:solidFill>
              </a:rPr>
              <a:t>1. </a:t>
            </a:r>
            <a:r>
              <a:rPr lang="en-IN"/>
              <a:t>Abstract</a:t>
            </a:r>
            <a:endParaRPr lang="en-IN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>
                <a:solidFill>
                  <a:schemeClr val="tx1"/>
                </a:solidFill>
              </a:rPr>
              <a:pPr/>
              <a:t>3</a:t>
            </a:fld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4ACCC8AB-F2CD-025B-9A3E-70AFECE18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9134" y="1735444"/>
            <a:ext cx="8186182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Traditional, rote-heavy teaching and poor internet connectivity (2–5 Mbps) severely limit educational outcomes in rural India. To bridge this divide, this project introduces an 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offline-first Progressive Web Application (PWA)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featuring an 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AI Visual Conversion tool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that transforms everyday materials—like blackboard photos, handwritten notes, and voice recordings—into interactive visual resources and automated quizzes.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Grounded in 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Self-Determination Theory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, the platform drives student engagement through 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non-competitive gamification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(XP, badges, streaks) and supports stakeholders via 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role-based dashboards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. Additionally, an automated 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lagging-learner module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tracks performance and inactivity to flag at-risk students early, enabling timely teacher intervention.</a:t>
            </a:r>
          </a:p>
          <a:p>
            <a:pPr algn="just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755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2761B-2867-AC33-D61F-0B2F8F7D2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12DB1-6149-A912-F927-B47094ABF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575" y="1016774"/>
            <a:ext cx="8911687" cy="1280890"/>
          </a:xfrm>
        </p:spPr>
        <p:txBody>
          <a:bodyPr/>
          <a:lstStyle/>
          <a:p>
            <a:r>
              <a:rPr lang="en-IN">
                <a:solidFill>
                  <a:schemeClr val="tx1"/>
                </a:solidFill>
              </a:rPr>
              <a:t>2. 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31BE0-7D21-BFB5-5654-19A48BC15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>
                <a:solidFill>
                  <a:schemeClr val="tx1"/>
                </a:solidFill>
              </a:rPr>
              <a:pPr/>
              <a:t>4</a:t>
            </a:fld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C92914-880B-3A81-6149-1856460157FF}"/>
              </a:ext>
            </a:extLst>
          </p:cNvPr>
          <p:cNvSpPr txBox="1"/>
          <p:nvPr/>
        </p:nvSpPr>
        <p:spPr>
          <a:xfrm>
            <a:off x="2837575" y="1997839"/>
            <a:ext cx="729632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Rural Indian education faces a stark 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digital divide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; despite a decade of rapid ed-tech growth, modern platforms remain virtually unusable in village classrooms plagued by 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intermittent electricity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shared devices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overextended teachers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. This project bridges that gap by introducing a resilient, 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low-bandwidth ecosystem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designed specifically for existing rural constraints.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By prioritizing accessibility over high-tech dependencies, this chapter establishes the core 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systemic problems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addressed, the underlying motivation behind our 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technical and pedagogical design choices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, and the defined 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platform's development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and empirical evaluation.</a:t>
            </a:r>
          </a:p>
          <a:p>
            <a:pPr algn="just"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015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6638" y="1000389"/>
            <a:ext cx="8911687" cy="1280890"/>
          </a:xfrm>
        </p:spPr>
        <p:txBody>
          <a:bodyPr/>
          <a:lstStyle/>
          <a:p>
            <a:r>
              <a:rPr lang="en-IN">
                <a:solidFill>
                  <a:schemeClr val="tx1"/>
                </a:solidFill>
              </a:rPr>
              <a:t>3. Problem Statement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>
                <a:solidFill>
                  <a:schemeClr val="tx1"/>
                </a:solidFill>
              </a:rPr>
              <a:pPr/>
              <a:t>5</a:t>
            </a:fld>
            <a:endParaRPr lang="en-IN">
              <a:solidFill>
                <a:schemeClr val="tx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C023E82-A747-578C-1B0B-6809BBEB8A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82286" y="2054290"/>
            <a:ext cx="7913534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Text Saturation: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Rural learning relies heavily on text dictation, drastically lacking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visual aids and concept maps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necessary for conceptual understanding.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Infeasible Content Creation: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Overextended teachers have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zero dedicated preparation time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within their six-period days to manually design visual resources.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Severe Assessment Lag: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Testing happens monthly or term-end, creating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feedback delay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that prevents early detection of learning gaps.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Crippling Connectivity Constraints: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Standard ed-tech platforms fail because    they require constant internet, which is unusable under rural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2–5 Mbps bandwidth   drops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85955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0225" y="959670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en-IN"/>
              <a:t>4. </a:t>
            </a:r>
            <a:r>
              <a:rPr lang="en-IN" sz="4400"/>
              <a:t>Proposed Solution</a:t>
            </a:r>
            <a:br>
              <a:rPr lang="en-IN"/>
            </a:b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6</a:t>
            </a:fld>
            <a:endParaRPr lang="en-IN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5AB1744-A625-8C7B-D713-CB0364154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0225" y="1828273"/>
            <a:ext cx="7725534" cy="4363278"/>
          </a:xfrm>
        </p:spPr>
        <p:txBody>
          <a:bodyPr>
            <a:normAutofit/>
          </a:bodyPr>
          <a:lstStyle/>
          <a:p>
            <a:r>
              <a:rPr lang="en-IN" sz="1800"/>
              <a:t>The platform integrates directly into existing workflows to bridge instructional and technological gaps without requiring new technical skills or continuous connectivity:</a:t>
            </a:r>
          </a:p>
          <a:p>
            <a:r>
              <a:rPr lang="en-IN" sz="1800" b="1"/>
              <a:t>Automated AI Content Transformation:</a:t>
            </a:r>
            <a:r>
              <a:rPr lang="en-IN" sz="1800"/>
              <a:t> The system accepts raw materials teachers already produce—including </a:t>
            </a:r>
            <a:r>
              <a:rPr lang="en-IN" sz="1800" b="1"/>
              <a:t>blackboard photos, scanned PDFs, and voice recordings</a:t>
            </a:r>
            <a:r>
              <a:rPr lang="en-IN" sz="1800"/>
              <a:t>—using multilingual BERT and </a:t>
            </a:r>
            <a:r>
              <a:rPr lang="en-IN" sz="1800" err="1"/>
              <a:t>KeyBERT</a:t>
            </a:r>
            <a:r>
              <a:rPr lang="en-IN" sz="1800"/>
              <a:t> to automatically convert them into </a:t>
            </a:r>
            <a:r>
              <a:rPr lang="en-IN" sz="1800" b="1"/>
              <a:t>SVG-based concept maps, flowcharts, and visual infographics</a:t>
            </a:r>
            <a:r>
              <a:rPr lang="en-IN" sz="1800"/>
              <a:t>.</a:t>
            </a:r>
          </a:p>
          <a:p>
            <a:r>
              <a:rPr lang="en-IN" sz="1800" b="1"/>
              <a:t>Gamified Continuous Assessment:</a:t>
            </a:r>
            <a:r>
              <a:rPr lang="en-IN" sz="1800"/>
              <a:t> These visual resources are embedded into an engaging learning loop where students earn XP through </a:t>
            </a:r>
            <a:r>
              <a:rPr lang="en-IN" sz="1800" b="1"/>
              <a:t>automatically generated quizzes</a:t>
            </a:r>
            <a:r>
              <a:rPr lang="en-IN" sz="1800"/>
              <a:t>, eliminating assessment lag by providing teachers with </a:t>
            </a:r>
            <a:r>
              <a:rPr lang="en-IN" sz="1800" b="1"/>
              <a:t>instant formative feedback</a:t>
            </a:r>
            <a:r>
              <a:rPr lang="en-IN" sz="1800"/>
              <a:t> on student understanding.</a:t>
            </a:r>
          </a:p>
          <a:p>
            <a:pPr marL="0" indent="0">
              <a:buNone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841163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6055" y="861468"/>
            <a:ext cx="8911687" cy="1280890"/>
          </a:xfrm>
        </p:spPr>
        <p:txBody>
          <a:bodyPr/>
          <a:lstStyle/>
          <a:p>
            <a:r>
              <a:rPr lang="en-IN"/>
              <a:t>5.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6055" y="1300578"/>
            <a:ext cx="6547336" cy="361537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7</a:t>
            </a:fld>
            <a:endParaRPr lang="en-IN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C66718B-8E55-BF1F-8F24-81BE6FA0B2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3587" y="1732703"/>
            <a:ext cx="616482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Diverse Ingestion: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 convert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blackboard photos, PDFs, and voice recordings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into visual assets with zero manual diagramming.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Meaningful Gamification: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Embed XP, badges, and streaks tied directly 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educational actions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page views.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Assessment: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Generate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quizzes directly from uploaded content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close the loop between teaching and testing.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Offline-First Operation: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Utilize local caching to run smoothly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without continuous internet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syncing automatically when connected.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Localization: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Support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Hindi, regional languages, and voice inputs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eliminate English-only learning barriers.</a:t>
            </a:r>
          </a:p>
        </p:txBody>
      </p:sp>
    </p:spTree>
    <p:extLst>
      <p:ext uri="{BB962C8B-B14F-4D97-AF65-F5344CB8AC3E}">
        <p14:creationId xmlns:p14="http://schemas.microsoft.com/office/powerpoint/2010/main" val="870974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1003869"/>
            <a:ext cx="8911687" cy="1280890"/>
          </a:xfrm>
        </p:spPr>
        <p:txBody>
          <a:bodyPr/>
          <a:lstStyle/>
          <a:p>
            <a:r>
              <a:rPr lang="en-IN"/>
              <a:t>6. System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C2E36E8-7372-19A5-12AC-FD2BC1976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4036" y="1930166"/>
            <a:ext cx="6383927" cy="4618117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sz="4500"/>
              <a:t>The platform uses an offline-first </a:t>
            </a:r>
            <a:r>
              <a:rPr lang="en-IN" sz="4500" b="1"/>
              <a:t>Progressive Web Application (PWA)</a:t>
            </a:r>
            <a:r>
              <a:rPr lang="en-IN" sz="4500"/>
              <a:t> architecture built with </a:t>
            </a:r>
            <a:r>
              <a:rPr lang="en-IN" sz="4500" b="1"/>
              <a:t>Django</a:t>
            </a:r>
            <a:r>
              <a:rPr lang="en-IN" sz="4500"/>
              <a:t> and </a:t>
            </a:r>
            <a:r>
              <a:rPr lang="en-IN" sz="4500" b="1"/>
              <a:t>PostgreSQL 15</a:t>
            </a:r>
            <a:r>
              <a:rPr lang="en-IN" sz="4500"/>
              <a:t> to survive unstable </a:t>
            </a:r>
            <a:r>
              <a:rPr lang="en-IN" sz="4500" b="1"/>
              <a:t>2–5 Mbps rural networks</a:t>
            </a:r>
            <a:r>
              <a:rPr lang="en-IN" sz="4500"/>
              <a:t>. By caching learning assets locally, it runs smoothly on low-cost hardware like a </a:t>
            </a:r>
            <a:r>
              <a:rPr lang="en-IN" sz="4500" b="1"/>
              <a:t>Raspberry Pi</a:t>
            </a:r>
            <a:r>
              <a:rPr lang="en-IN" sz="4500"/>
              <a:t> and automatically synchronizes data once internet connectivity returns.</a:t>
            </a:r>
          </a:p>
          <a:p>
            <a:pPr marL="0" indent="0">
              <a:buNone/>
            </a:pPr>
            <a:endParaRPr lang="en-IN" sz="4500"/>
          </a:p>
          <a:p>
            <a:r>
              <a:rPr lang="en-IN" sz="4500" b="1"/>
              <a:t>5-Layer Architecture:</a:t>
            </a:r>
            <a:r>
              <a:rPr lang="en-IN" sz="4500"/>
              <a:t> Separates system concerns across Presentation, Application, Data, AI Services, and Offline/Sync layers.</a:t>
            </a:r>
          </a:p>
          <a:p>
            <a:r>
              <a:rPr lang="en-IN" sz="4500" b="1"/>
              <a:t>Offline-First PWA:</a:t>
            </a:r>
            <a:r>
              <a:rPr lang="en-IN" sz="4500"/>
              <a:t> Caches diagrams, quizzes, and gamification states locally to allow uninterrupted learning without active internet.</a:t>
            </a:r>
          </a:p>
          <a:p>
            <a:r>
              <a:rPr lang="en-IN" sz="4500" b="1"/>
              <a:t>Low-Cost Deployment:</a:t>
            </a:r>
            <a:r>
              <a:rPr lang="en-IN" sz="4500"/>
              <a:t> Optimizes resource consumption to run seamlessly on localized school servers or cloud backups.</a:t>
            </a:r>
            <a:endParaRPr lang="en-US" sz="4500">
              <a:solidFill>
                <a:schemeClr val="tx1"/>
              </a:solidFill>
            </a:endParaRPr>
          </a:p>
          <a:p>
            <a:pPr marL="0" indent="0" algn="just">
              <a:buNone/>
            </a:pPr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225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0225" y="959670"/>
            <a:ext cx="8911687" cy="1280890"/>
          </a:xfrm>
        </p:spPr>
        <p:txBody>
          <a:bodyPr/>
          <a:lstStyle/>
          <a:p>
            <a:r>
              <a:rPr lang="en-IN"/>
              <a:t>7. Technology Stack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4C15F15-24A4-2C0E-5A39-B87798E1B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4186" y="1860168"/>
            <a:ext cx="7006150" cy="41276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/>
              <a:t>The platform leverages </a:t>
            </a:r>
            <a:r>
              <a:rPr lang="en-IN" sz="1800" b="1"/>
              <a:t>Django 4.2 (Python 3.11)</a:t>
            </a:r>
            <a:r>
              <a:rPr lang="en-IN" sz="1800"/>
              <a:t> to minimize JavaScript payloads, ensuring fast load times over slow 2–5 Mbps networks. It uses </a:t>
            </a:r>
            <a:r>
              <a:rPr lang="en-IN" sz="1800" b="1"/>
              <a:t>PostgreSQL 15</a:t>
            </a:r>
            <a:r>
              <a:rPr lang="en-IN" sz="1800"/>
              <a:t> and </a:t>
            </a:r>
            <a:r>
              <a:rPr lang="en-IN" sz="1800" b="1"/>
              <a:t>Celery/Redis</a:t>
            </a:r>
            <a:r>
              <a:rPr lang="en-IN" sz="1800"/>
              <a:t> to process intensive AI workloads asynchronously without interrupting the user experience. Built as an installation-free </a:t>
            </a:r>
            <a:r>
              <a:rPr lang="en-IN" sz="1800" b="1"/>
              <a:t>Progressive Web Application (PWA)</a:t>
            </a:r>
            <a:r>
              <a:rPr lang="en-IN" sz="1800"/>
              <a:t>, it guarantees seamless offline access across diverse, low-cost rural devices.</a:t>
            </a:r>
          </a:p>
          <a:p>
            <a:r>
              <a:rPr lang="en-IN" sz="1800" b="1"/>
              <a:t>Backend &amp; Security:</a:t>
            </a:r>
            <a:r>
              <a:rPr lang="en-IN" sz="1800"/>
              <a:t> </a:t>
            </a:r>
            <a:r>
              <a:rPr lang="en-IN" sz="1800" b="1"/>
              <a:t>Django 4.2</a:t>
            </a:r>
            <a:r>
              <a:rPr lang="en-IN" sz="1800"/>
              <a:t> provides rapid development, built-in security (CSRF/XSS), and lightweight server-side rendering.</a:t>
            </a:r>
          </a:p>
          <a:p>
            <a:r>
              <a:rPr lang="en-IN" sz="1800" b="1"/>
              <a:t>Data &amp; AI Infrastructure:</a:t>
            </a:r>
            <a:r>
              <a:rPr lang="en-IN" sz="1800"/>
              <a:t> </a:t>
            </a:r>
            <a:r>
              <a:rPr lang="en-IN" sz="1800" b="1"/>
              <a:t>PostgreSQL 15 (JSONB)</a:t>
            </a:r>
            <a:r>
              <a:rPr lang="en-IN" sz="1800"/>
              <a:t> pairs with </a:t>
            </a:r>
            <a:r>
              <a:rPr lang="en-IN" sz="1800" b="1"/>
              <a:t>Hugging Face Transformers</a:t>
            </a:r>
            <a:r>
              <a:rPr lang="en-IN" sz="1800"/>
              <a:t> via </a:t>
            </a:r>
            <a:r>
              <a:rPr lang="en-IN" sz="1800" b="1"/>
              <a:t>Celery &amp; Redis</a:t>
            </a:r>
            <a:r>
              <a:rPr lang="en-IN" sz="1800"/>
              <a:t> for background AI processing.</a:t>
            </a:r>
          </a:p>
          <a:p>
            <a:r>
              <a:rPr lang="en-IN" sz="1800" b="1"/>
              <a:t>Frontend Accessibility:</a:t>
            </a:r>
            <a:r>
              <a:rPr lang="en-IN" sz="1800"/>
              <a:t> </a:t>
            </a:r>
            <a:r>
              <a:rPr lang="en-IN" sz="1800" b="1"/>
              <a:t>PWA Service Workers</a:t>
            </a:r>
            <a:r>
              <a:rPr lang="en-IN" sz="1800"/>
              <a:t> enable installation-free, cross-device offline capability for resource-constrained schools.</a:t>
            </a:r>
          </a:p>
          <a:p>
            <a:pPr marL="0" indent="0" algn="just">
              <a:buNone/>
            </a:pPr>
            <a:endParaRPr lang="en-US" sz="1800"/>
          </a:p>
          <a:p>
            <a:pPr marL="0" indent="0" algn="just">
              <a:buNone/>
            </a:pPr>
            <a:endParaRPr lang="en-US">
              <a:solidFill>
                <a:schemeClr val="tx1"/>
              </a:solidFill>
            </a:endParaRPr>
          </a:p>
          <a:p>
            <a:pPr marL="0" indent="0" algn="just">
              <a:buNone/>
            </a:pPr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500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872CE-AA2E-1157-36D1-F764DC629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A3250-27A2-7E12-395E-994DDC6F6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0225" y="1035170"/>
            <a:ext cx="8911687" cy="1280890"/>
          </a:xfrm>
        </p:spPr>
        <p:txBody>
          <a:bodyPr/>
          <a:lstStyle/>
          <a:p>
            <a:r>
              <a:rPr lang="en-IN"/>
              <a:t>8. Domain Applications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11E4ED-7D07-FB14-009B-1F2565CEA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C60B4B-C365-79B3-678E-C8FCD7537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0225" y="1938556"/>
            <a:ext cx="7006150" cy="361537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sz="1800"/>
          </a:p>
          <a:p>
            <a:pPr marL="0" indent="0" algn="just">
              <a:buNone/>
            </a:pPr>
            <a:endParaRPr lang="en-US">
              <a:solidFill>
                <a:schemeClr val="tx1"/>
              </a:solidFill>
            </a:endParaRPr>
          </a:p>
          <a:p>
            <a:pPr marL="0" indent="0" algn="just">
              <a:buNone/>
            </a:pPr>
            <a:endParaRPr lang="en-IN">
              <a:solidFill>
                <a:schemeClr val="tx1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8F3D8F0-662E-5BD0-9DF4-39B4B9369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1100" y="1888755"/>
            <a:ext cx="684527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Healthcare Extension: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Transforms raw medical notes into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visual maps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diagnostic quizzes to train rural healthcare workers (ASHAs) offline.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Literacy: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Converts technical farming guides into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gamified infographics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localized voice-based checklists to educate offline, regional farmers.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Vocational Skill Development: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Translates industrial blueprints into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step-by-step assembly guides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XP-based safety quizzes for remote workshop trainees.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Financial Literacy Infrastructure: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Turns complex banking policies into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gamified visual workflows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interactive modules to teach digital financial safety in low-connectivity villages.</a:t>
            </a:r>
          </a:p>
        </p:txBody>
      </p:sp>
    </p:spTree>
    <p:extLst>
      <p:ext uri="{BB962C8B-B14F-4D97-AF65-F5344CB8AC3E}">
        <p14:creationId xmlns:p14="http://schemas.microsoft.com/office/powerpoint/2010/main" val="2108968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A9354-7E4D-2A4D-3E8A-2D8CEEC6A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BC4C1-9495-D7DE-654C-891D269E7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0225" y="1035170"/>
            <a:ext cx="8911687" cy="1280890"/>
          </a:xfrm>
        </p:spPr>
        <p:txBody>
          <a:bodyPr/>
          <a:lstStyle/>
          <a:p>
            <a:r>
              <a:rPr lang="en-IN"/>
              <a:t>9. Testing &amp; Performance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FE4F3-D047-F16C-8F8E-E169FB820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11</a:t>
            </a:fld>
            <a:endParaRPr lang="en-IN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5910345-7D24-ABD7-71EF-C3BBC984A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0225" y="1955334"/>
            <a:ext cx="7006150" cy="361537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800"/>
              <a:t>The validation strategy uses automated testing and performance budgeting to guarantee platform stability on low-cost hardware and weak networks, ensuring smooth local processing without server bottlenecks.</a:t>
            </a:r>
          </a:p>
          <a:p>
            <a:r>
              <a:rPr lang="en-IN" sz="1800" b="1"/>
              <a:t>Multi-Tier Testing:</a:t>
            </a:r>
            <a:r>
              <a:rPr lang="en-IN" sz="1800"/>
              <a:t> Uses Django (RBAC/CSRF) and the System Usability Scale (SUS) to verify security and user experience.</a:t>
            </a:r>
          </a:p>
          <a:p>
            <a:r>
              <a:rPr lang="en-IN" sz="1800" b="1"/>
              <a:t>Hardware Profiling:</a:t>
            </a:r>
            <a:r>
              <a:rPr lang="en-IN" sz="1800"/>
              <a:t> Completes full text-to-visual conversion on standard, non-GPU CPUs in </a:t>
            </a:r>
            <a:r>
              <a:rPr lang="en-IN" sz="1800" b="1"/>
              <a:t>6–8 seconds</a:t>
            </a:r>
            <a:r>
              <a:rPr lang="en-IN" sz="1800"/>
              <a:t> per document.</a:t>
            </a:r>
          </a:p>
          <a:p>
            <a:r>
              <a:rPr lang="en-IN" sz="1800" b="1"/>
              <a:t>Network Budgeting:</a:t>
            </a:r>
            <a:r>
              <a:rPr lang="en-IN" sz="1800"/>
              <a:t> Enforces a tight </a:t>
            </a:r>
            <a:r>
              <a:rPr lang="en-IN" sz="1800" b="1"/>
              <a:t>100 KB compressed limit</a:t>
            </a:r>
            <a:r>
              <a:rPr lang="en-IN" sz="1800"/>
              <a:t> per page request to guarantee speed over 2–5 Mbps links.</a:t>
            </a:r>
          </a:p>
          <a:p>
            <a:r>
              <a:rPr lang="en-IN" sz="1800" b="1"/>
              <a:t>Resilient Edge Handling:</a:t>
            </a:r>
            <a:r>
              <a:rPr lang="en-IN" sz="1800"/>
              <a:t> Employs layout heuristics, language routing, and an automatic fallback to </a:t>
            </a:r>
            <a:r>
              <a:rPr lang="en-IN" sz="1800" b="1"/>
              <a:t>lightweight TF-IDF mode</a:t>
            </a:r>
            <a:r>
              <a:rPr lang="en-IN" sz="1800"/>
              <a:t>.</a:t>
            </a:r>
          </a:p>
          <a:p>
            <a:pPr marL="0" indent="0" algn="just">
              <a:buNone/>
            </a:pPr>
            <a:endParaRPr lang="en-US" sz="1800"/>
          </a:p>
          <a:p>
            <a:pPr marL="0" indent="0" algn="just">
              <a:buNone/>
            </a:pPr>
            <a:endParaRPr lang="en-US">
              <a:solidFill>
                <a:schemeClr val="tx1"/>
              </a:solidFill>
            </a:endParaRPr>
          </a:p>
          <a:p>
            <a:pPr marL="0" indent="0" algn="just">
              <a:buNone/>
            </a:pPr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9891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81B0B-D253-E061-ED89-0DB7E6B97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A41E5-E659-EECD-454A-D1DE1F1AF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0225" y="1144227"/>
            <a:ext cx="8911687" cy="1280890"/>
          </a:xfrm>
        </p:spPr>
        <p:txBody>
          <a:bodyPr/>
          <a:lstStyle/>
          <a:p>
            <a:r>
              <a:rPr lang="en-IN"/>
              <a:t>10. Results &amp; Advantages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B8370-6D66-D90B-ED1B-E31A013FB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BEB5490-F50F-29F5-FA80-5EE7A3907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0225" y="2039224"/>
            <a:ext cx="7006150" cy="361537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sz="1800"/>
          </a:p>
          <a:p>
            <a:pPr marL="0" indent="0" algn="just">
              <a:buNone/>
            </a:pPr>
            <a:endParaRPr lang="en-US">
              <a:solidFill>
                <a:schemeClr val="tx1"/>
              </a:solidFill>
            </a:endParaRPr>
          </a:p>
          <a:p>
            <a:pPr marL="0" indent="0" algn="just">
              <a:buNone/>
            </a:pPr>
            <a:endParaRPr lang="en-IN">
              <a:solidFill>
                <a:schemeClr val="tx1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172A25D-1E7E-6451-0414-66955D193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5359" y="2039224"/>
            <a:ext cx="680468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NLP Pipeline Efficiency: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Processes raw text quickly (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1.8s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and handles noisy OCR or audio inputs in under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6.4 seconds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 standard CPU hardware.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High-Quality Quiz Generation: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Features a fine-tuned T5 model that achieves a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97% grammatical correctness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rate and an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88% overall quiz pass rate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Adaptive Gamification Engine: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Utilizes an automated formula tracking accuracy and streaks to compute rewards and dynamically flag lagging learners.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Low-Compute Advantage: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Eliminates the need for expensive GPU infrastructure, delivering robust text-to-visual conversion on affordable classroom hardware.</a:t>
            </a:r>
          </a:p>
        </p:txBody>
      </p:sp>
    </p:spTree>
    <p:extLst>
      <p:ext uri="{BB962C8B-B14F-4D97-AF65-F5344CB8AC3E}">
        <p14:creationId xmlns:p14="http://schemas.microsoft.com/office/powerpoint/2010/main" val="2479974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A2610-E169-4BDC-C5D8-D2767B9D0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9E8B5-7034-C330-1C32-2F917356D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0225" y="1035170"/>
            <a:ext cx="8911687" cy="1280890"/>
          </a:xfrm>
        </p:spPr>
        <p:txBody>
          <a:bodyPr/>
          <a:lstStyle/>
          <a:p>
            <a:r>
              <a:rPr lang="en-IN"/>
              <a:t>11. Conclusion &amp; Future 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C9F59-6105-8F91-2ECC-D6E82D3C5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13</a:t>
            </a:fld>
            <a:endParaRPr lang="en-IN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611B2F-43C5-3692-A3C6-C7EA96769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0947" y="1838739"/>
            <a:ext cx="7593496" cy="4621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/>
              <a:t>Conclusion</a:t>
            </a:r>
          </a:p>
          <a:p>
            <a:r>
              <a:rPr lang="en-IN" sz="1800"/>
              <a:t>This project proves that rural learning outcomes improve by automatically converting standard teacher notes into structured visual materials. Using an offline-first design, the platform delivers high-quality educational tools on low-cost hardware without requiring continuous internet. Backed by a full UML specification, this approach drives academic gains without requiring extra instructional time or expensive infrastructure upgrades.</a:t>
            </a:r>
          </a:p>
          <a:p>
            <a:pPr marL="0" indent="0">
              <a:buNone/>
            </a:pPr>
            <a:r>
              <a:rPr lang="en-IN" sz="1800" b="1"/>
              <a:t>Future Scope</a:t>
            </a:r>
          </a:p>
          <a:p>
            <a:r>
              <a:rPr lang="en-IN" sz="1800" b="1"/>
              <a:t>Optimized Android Client:</a:t>
            </a:r>
            <a:r>
              <a:rPr lang="en-IN" sz="1800"/>
              <a:t> Develops a lightweight, offline application tailored for low-end, 2 GB RAM devices.</a:t>
            </a:r>
          </a:p>
          <a:p>
            <a:r>
              <a:rPr lang="en-IN" sz="1800" b="1"/>
              <a:t>Expanded Regional Reach:</a:t>
            </a:r>
            <a:r>
              <a:rPr lang="en-IN" sz="1800"/>
              <a:t> Integrates six additional Indian languages using fine-tuned </a:t>
            </a:r>
            <a:r>
              <a:rPr lang="en-IN" sz="1800" err="1"/>
              <a:t>IndicBERT</a:t>
            </a:r>
            <a:r>
              <a:rPr lang="en-IN" sz="1800"/>
              <a:t> and Dhruva NLP models.</a:t>
            </a:r>
          </a:p>
          <a:p>
            <a:r>
              <a:rPr lang="en-IN" sz="1800" b="1"/>
              <a:t>Intelligent Automation:</a:t>
            </a:r>
            <a:r>
              <a:rPr lang="en-IN" sz="1800"/>
              <a:t> Implements automated quiz-filtering, Whisper-based voice responses, and predictive at-risk student </a:t>
            </a:r>
            <a:r>
              <a:rPr lang="en-IN" sz="1800" err="1"/>
              <a:t>modeling</a:t>
            </a:r>
            <a:r>
              <a:rPr lang="en-IN" sz="1800"/>
              <a:t>.</a:t>
            </a:r>
          </a:p>
          <a:p>
            <a:pPr marL="0" indent="0" algn="just">
              <a:buNone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077083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1077115"/>
            <a:ext cx="8911687" cy="1280890"/>
          </a:xfrm>
        </p:spPr>
        <p:txBody>
          <a:bodyPr/>
          <a:lstStyle/>
          <a:p>
            <a:r>
              <a:rPr lang="en-IN"/>
              <a:t>GitHub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39938"/>
            <a:ext cx="8915400" cy="4363278"/>
          </a:xfrm>
        </p:spPr>
        <p:txBody>
          <a:bodyPr/>
          <a:lstStyle/>
          <a:p>
            <a:r>
              <a:rPr lang="en-IN"/>
              <a:t>https://github.com/shreyanshsharma-1210/IREN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36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/>
          <a:lstStyle/>
          <a:p>
            <a:pPr marL="0" indent="0">
              <a:buNone/>
            </a:pPr>
            <a:r>
              <a:rPr lang="en-IN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15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A392D3-118A-46E9-AC01-3C08E2E7428F}"/>
              </a:ext>
            </a:extLst>
          </p:cNvPr>
          <p:cNvSpPr txBox="1"/>
          <p:nvPr/>
        </p:nvSpPr>
        <p:spPr>
          <a:xfrm>
            <a:off x="2668725" y="1264555"/>
            <a:ext cx="7782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IN"/>
            </a:br>
            <a:endParaRPr lang="en-IN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EFCD0C9-817E-9E3D-24AE-BCBCD1154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1478920"/>
            <a:ext cx="807057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[1] Foundations of Gamification: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S. Deterding, D. Dixon, R. Khaled, and L. Nacke, "From game design elements to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gamefulness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Defining 'gamification,'" in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Proc. 15th Int. Academic </a:t>
            </a:r>
            <a:r>
              <a:rPr kumimoji="0" lang="en-US" altLang="en-US" sz="1800" b="0" i="1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MindTrek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Conf.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Tampere, Finland, 2011, pp. 9–15.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[2] Educational Multimedia Theory: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R. E. Mayer,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Multimedia Learning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2nd ed. Cambridge, UK: Cambridge Univ. Press, 2009.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[3] Modern Transformer Architecture: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J. Devlin, M.-W. Chang, K. Lee, and K. Toutanova, "BERT: Pre-training of deep bidirectional transformers for language understanding," in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Proc. NAACL-HLT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Minneapolis, MN, USA, 2019, pp. 4171–4186.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[4] Technology in Rural Indian Education: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K. Muralidharan, A. Singh, and A. J.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Ganimian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"Disrupting education? Experimental evidence on technology-aided instruction in India,"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Amer. Econ. Rev.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109, no. 4, pp. 1426–1460, Apr. 2019.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[5] Gamified Offline-First Architectures: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P. De Silva, C.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Prabodhani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D. Herath, "Farm and Learn: An offline mobile learning system integrating AR, AI, and game-based learning for agricultural education among children,"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Int. J. Adv. </a:t>
            </a:r>
            <a:r>
              <a:rPr kumimoji="0" lang="en-US" altLang="en-US" sz="1800" b="0" i="1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Sci. Appl.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17, no. 2, pp. 471–480, 2026.</a:t>
            </a:r>
          </a:p>
        </p:txBody>
      </p:sp>
    </p:spTree>
    <p:extLst>
      <p:ext uri="{BB962C8B-B14F-4D97-AF65-F5344CB8AC3E}">
        <p14:creationId xmlns:p14="http://schemas.microsoft.com/office/powerpoint/2010/main" val="334970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8E571-788C-E54B-B080-EEB4F50A8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7870" y="2806401"/>
            <a:ext cx="8915400" cy="2866159"/>
          </a:xfrm>
        </p:spPr>
        <p:txBody>
          <a:bodyPr/>
          <a:lstStyle/>
          <a:p>
            <a:pPr marL="0" indent="0">
              <a:buNone/>
            </a:pPr>
            <a:r>
              <a:rPr lang="en-IN"/>
              <a:t>                           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C9646-E93C-1967-B61B-316EFA057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16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075BCF-150E-73E5-8816-DE78BFA76264}"/>
              </a:ext>
            </a:extLst>
          </p:cNvPr>
          <p:cNvSpPr/>
          <p:nvPr/>
        </p:nvSpPr>
        <p:spPr>
          <a:xfrm>
            <a:off x="1153750" y="2344736"/>
            <a:ext cx="98845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5400" b="1" cap="none" spc="0">
                <a:ln w="12700">
                  <a:solidFill>
                    <a:schemeClr val="accent5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~Thank You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B19417-A7FC-FBE3-2B6D-223E48F7981D}"/>
              </a:ext>
            </a:extLst>
          </p:cNvPr>
          <p:cNvSpPr/>
          <p:nvPr/>
        </p:nvSpPr>
        <p:spPr>
          <a:xfrm>
            <a:off x="4723384" y="3131485"/>
            <a:ext cx="2745232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Any </a:t>
            </a:r>
            <a:r>
              <a:rPr lang="en-IN" sz="5400" b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Q</a:t>
            </a:r>
            <a:r>
              <a:rPr lang="en-IN" sz="5400" b="1" cap="none" spc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ueries</a:t>
            </a:r>
            <a:endParaRPr lang="en-US" sz="5400" b="1" cap="none" spc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7134107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1627</Words>
  <Application>Microsoft Office PowerPoint</Application>
  <PresentationFormat>Widescreen</PresentationFormat>
  <Paragraphs>113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Wisp</vt:lpstr>
      <vt:lpstr>           Gamified Learning Platform for Rural Education with AI Visual Conversion  </vt:lpstr>
      <vt:lpstr>Contents</vt:lpstr>
      <vt:lpstr>1. Abstract</vt:lpstr>
      <vt:lpstr>2. Introduction</vt:lpstr>
      <vt:lpstr>3. Problem Statement</vt:lpstr>
      <vt:lpstr>4. Proposed Solution </vt:lpstr>
      <vt:lpstr>5. Objectives</vt:lpstr>
      <vt:lpstr>6. System Architecture</vt:lpstr>
      <vt:lpstr>7. Technology Stack</vt:lpstr>
      <vt:lpstr>8. Domain Applications</vt:lpstr>
      <vt:lpstr>9. Testing &amp; Performance</vt:lpstr>
      <vt:lpstr>10. Results &amp; Advantages</vt:lpstr>
      <vt:lpstr>11. Conclusion &amp; Future Scope</vt:lpstr>
      <vt:lpstr>GitHub Link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Deepak Singh Chouhan</dc:creator>
  <cp:lastModifiedBy>Sarthik yadav</cp:lastModifiedBy>
  <cp:revision>2</cp:revision>
  <dcterms:created xsi:type="dcterms:W3CDTF">2024-09-26T07:25:32Z</dcterms:created>
  <dcterms:modified xsi:type="dcterms:W3CDTF">2026-06-16T06:03:28Z</dcterms:modified>
</cp:coreProperties>
</file>